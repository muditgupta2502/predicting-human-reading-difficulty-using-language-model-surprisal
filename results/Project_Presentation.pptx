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0" y="146304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Predicting Human Reading Difficulty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331720"/>
            <a:ext cx="7498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C9A7"/>
                </a:solidFill>
              </a:rPr>
              <a:t>using Language Model Surprisal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310896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EC5"/>
                </a:solidFill>
              </a:rPr>
              <a:t>Computational Psycholinguistics — Course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35204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Mudit Gupta  |  Roll: 2024201058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90FF"/>
                </a:solidFill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60020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1. Motivation &amp; Surprisal Theory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2. The Cognitive Phenomena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3. Language Models as Proxies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4. The Subword Alignment Problem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5. Measuring Reading Difficulty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6. Formulation &amp; Hypotheses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7. Datasets &amp; Preprocessing (Nb 1)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8. Classical N-gram Surprisal (Nb 2)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9. Transformer Context Limits (Nb 3)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10. Main Findings &amp; Visuals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11. Why did BERT fail?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12. Future Directions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A7"/>
                </a:solidFill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Background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Cognitive load is not distributed evenly across a sentence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9A7"/>
                </a:solidFill>
              </a:rPr>
              <a:t>Why do some words take longer to read than others?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Core concept: Surprisal Theory   (Hale, 2001; Levy, 2008)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E90FF"/>
                </a:solidFill>
              </a:rPr>
              <a:t>S(wᵢ) = −log₂ P(wᵢ | context)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• Information Theory meets Cognition: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A word that is highly predictable carries little information, thus requiring little processing effort.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Conversely, an unexpected word (high surprisal) forces the brain to update its syntactic/semantic trace rapidly, causing a delay.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FFFFFF"/>
                </a:solidFill>
              </a:rPr>
              <a:t>• The Question: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00C9A7"/>
                </a:solidFill>
              </a:rPr>
              <a:t>• Can artificial neural networks predict human cognitive load?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Do large language models (which implicitly learn syntax and semantics) align better with human reading behavior than classical statistical approaches?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188720"/>
            <a:ext cx="3291840" cy="45720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280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90FF"/>
                </a:solidFill>
              </a:rPr>
              <a:t>Key Mechanisms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4592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Predictive Processing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The brain constantly guesses the next word.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Cost of Update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When predictions fail, reading time spikes.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Logarithmic Scaling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Processing difficulty scales linearly with the negative log probability (bits).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RT = α * S(w) + 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A7"/>
                </a:solidFill>
              </a:rPr>
              <a:t>COGNITIVE LINGUISTICS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Target Phenomena: Syntactic Complexity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What specifically causes surprisal spikes?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1430000" cy="22860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1. Garden-Path Sentences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• The complex houses married and single soldiers.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At first glance, 'complex' is read as an adjective and 'houses' as a noun.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By 'married', the parse fails. Regression happens. 'complex' is actually a noun, 'houses' is a verb.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00C9A7"/>
                </a:solidFill>
              </a:rPr>
              <a:t>• → Massive reading time spike at 'married'. Models should predict high surprisal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749039"/>
            <a:ext cx="11430000" cy="237744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2. Center-Embedding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</a:rPr>
              <a:t>• The rat the cat the dog chased killed ate the malt.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Working memory is overwhelmed maintaining multiple open syntactic dependencies.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• Reading times increase linearly with embedding depth.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00C9A7"/>
                </a:solidFill>
              </a:rPr>
              <a:t>• → Does a Transformer's self-attention mechanism replicate this memory strain via surprisal?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PREREQUISITES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Prerequisites —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Three distinct architectures for estimating P(w|context)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6576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📊  N-gram (KN)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Predicts next word using ONLY the last N−1 words.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E90FF"/>
                </a:solidFill>
              </a:rPr>
              <a:t>P(wᵢ | wᵢ₋₁, wᵢ₋₂)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Kneser-Ney Smoothing: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Handles unseen n-grams gracefully by backing off to lower orders based on continuation probabilities.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Strengths: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Extremely robust locally.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Weakness: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Has no concept of long-range syntax (subject-verb agreement over distance).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280160"/>
            <a:ext cx="36576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⚡ GPT-2 (Autoregressive)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78308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Causal Transformer.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Predicts each token using dense representations of ALL prior tokens via self-attention.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E90FF"/>
                </a:solidFill>
              </a:rPr>
              <a:t>P(wᵢ | w₁...wᵢ₋₁)</a:t>
            </a:r>
          </a:p>
          <a:p>
            <a:pPr>
              <a:spcBef>
                <a:spcPts val="400"/>
              </a:spcBef>
            </a:pPr>
            <a:r>
              <a:rPr sz="6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Strengths: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Context window of 1024 tokens. Can track characters and complex grammar.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Close analog to human sequential reading.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Weakness: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Only single-direction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56616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🎭 BERT (Masked 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Bidirectional Transformer.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Not designed for left-to-right prediction. Uses Pseudo-Log-Likelihood (PLL).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E90FF"/>
                </a:solidFill>
              </a:rPr>
              <a:t>Mask target word, then read log P from [MASK] logit.</a:t>
            </a:r>
          </a:p>
          <a:p>
            <a:pPr>
              <a:spcBef>
                <a:spcPts val="400"/>
              </a:spcBef>
            </a:pPr>
            <a:r>
              <a:rPr sz="6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Strengths: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Sees future context. Superior for semantic embedding.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Weakness: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Not physiologically plausible (humans don't see the end of the sentence first).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Computationally heavy (1 pass per word).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METHODOLOGY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Subword Alignment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Reconciling model tokenizers with human reading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14300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D700"/>
                </a:solidFill>
              </a:rPr>
              <a:t>The Mismatch: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Psycholinguistic corpora (like Natural Stories) record reading times per WORD.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Modern transformers (GPT-2, BERT) use Byte Pair Encoding (BPE) or WordPiece.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A single word is often split into a sequence of subword tokens.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00C9A7"/>
                </a:solidFill>
              </a:rPr>
              <a:t>Example: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Corpus word:  'unbelievable'   →   RT: 450 ms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GPT-2 output: ['un', 'bel', 'iev', 'able']   →   We have 4 separate log probabilities.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D700"/>
                </a:solidFill>
              </a:rPr>
              <a:t>Mathematical Resolution (Joint Probability):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The probability of the full word is the joint probability of its subwords.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Because probabilities multiply, log-probabilities ADD.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E90FF"/>
                </a:solidFill>
              </a:rPr>
              <a:t>S(word) = −( log₂ P('un' | ctx) + log₂ P('bel' | ctx + 'un') + ... )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6B6B"/>
                </a:solidFill>
              </a:rPr>
              <a:t>Implementation detail: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0BEC5"/>
                </a:solidFill>
              </a:rPr>
              <a:t>We must carefully track token indices back to the original text sequence to ensure every subword's log-prob is rolled up accurately into the final CSVs.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MEASUREMENT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Measuring Human Reading Difficulty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Self-paced reading vs Eye-tracking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57784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</a:rPr>
              <a:t>📖  Self-Paced Reading (SPR)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Mechanism: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Participant sits at a computer. Text is hidden by dashes ('--- ---').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Pressing spacebar reveals next word and hides previous word.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RT = time between spacebar presses (ms).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Pros: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Forces strict serial processing. Cannot look back.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Very clear measure of localized difficulty.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Cons: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Unnatural reading format. Slower than normal reading.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Spillover effects common (delayed reaction on word i+1).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E90FF"/>
                </a:solidFill>
              </a:rPr>
              <a:t>Used in: Natural Stories Corpus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80160"/>
            <a:ext cx="54864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👁️  Eye-Tracking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Mechanism: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Infrared camera tracks pupil/corneal reflection at 1000 Hz.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Records 'saccades' (jumps) and 'fixations' (resting).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E90FF"/>
                </a:solidFill>
              </a:rPr>
              <a:t>We use First-Pass Fixation Duration (FDUR).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Pros: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Highly naturalistic. Participants read paragraphs normally.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Allows studying regressions (looking back).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Cons: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Word skipping (short words often have 0 ms fixation).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Highly complex data requiring parsing.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E90FF"/>
                </a:solidFill>
              </a:rPr>
              <a:t>Used in: Dundee Corpus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90FF"/>
                </a:solidFill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Research Questions &amp; Hypotheses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1430000" cy="146304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90FF"/>
                </a:solidFill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37160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Does language-model surprisal correlate with human reading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938528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EC5"/>
                </a:solidFill>
              </a:rPr>
              <a:t>Hypothesis: Higher surprisal → longer reading time (RT ∝ Surprisal). We expect positive 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80360"/>
            <a:ext cx="11430000" cy="1463040"/>
          </a:xfrm>
          <a:prstGeom prst="rect">
            <a:avLst/>
          </a:prstGeom>
          <a:solidFill>
            <a:srgbClr val="152A40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9900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9A7"/>
                </a:solidFill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7180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Do transformer LMs (GPT-2/BERT) predict reading difficulty better than n-gram LMs?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38728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EC5"/>
                </a:solidFill>
              </a:rPr>
              <a:t>Hypothesis: Transformers capture long-range context → higher correlation with RT than Bigrams.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0"/>
            <a:ext cx="11430000" cy="1463040"/>
          </a:xfrm>
          <a:prstGeom prst="rect">
            <a:avLst/>
          </a:prstGeom>
          <a:solidFill>
            <a:srgbClr val="152A40"/>
          </a:solidFill>
          <a:ln w="1524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5902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6B"/>
                </a:solidFill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57200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Do syntactic constructions produce surprisal spikes matching RT increases?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138928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EC5"/>
                </a:solidFill>
              </a:rPr>
              <a:t>Hypothesis: Garden-path &amp; center-embedded sentences → local surprisal peaks at disambiguation 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A7"/>
                </a:solidFill>
              </a:rPr>
              <a:t>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Datasets Used in This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486400" cy="512064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📗  Natural Stories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Futrell et al. (2018)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10 natural language stories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180 participants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10,256 unique word tokens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Designed to contain complex syntactic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  structures (garden-path, embeddings)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Cleaning steps: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• Limit RT to 100–3000 ms to filter out slips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6B6B"/>
                </a:solidFill>
              </a:rPr>
              <a:t>• The Z-Score Imperative: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 Some people read fast, some slow.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 We z-score log(RT) per participant to isolate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 relative difficulty of specific words.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E90FF"/>
                </a:solidFill>
              </a:rPr>
              <a:t>DV: mean log(RT) per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512064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90FF"/>
                </a:solidFill>
              </a:rPr>
              <a:t>📘  Dundee Corpus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Kennedy et al. (2003)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20 UK newspaper article texts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10 participants (but dense data)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50,650 word-level observations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• General domain text (not crafted)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Cleaning steps: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6B6B"/>
                </a:solidFill>
              </a:rPr>
              <a:t>• Keep Pass-1 fixations only. Why?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 Re-reading (regression) signifies failure of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 surprisal predictions. First-pass isolates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 local predictability.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• FDUR bounded 50–1200 ms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• Z-score log(FDUR) per subject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E90FF"/>
                </a:solidFill>
              </a:rPr>
              <a:t>DV: mean log(FDUR) per word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A7"/>
                </a:solidFill>
              </a:rPr>
              <a:t>NOTEBOOK 1 — PREPROCESSING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Notebook 1: Distributions &amp; Skew Rectification</a:t>
            </a:r>
          </a:p>
        </p:txBody>
      </p:sp>
      <p:pic>
        <p:nvPicPr>
          <p:cNvPr id="6" name="Picture 5" descr="fig_ns_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3840480" cy="12997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23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C9A7"/>
                </a:solidFill>
              </a:rPr>
              <a:t>Natural Stories RT</a:t>
            </a:r>
          </a:p>
        </p:txBody>
      </p:sp>
      <p:pic>
        <p:nvPicPr>
          <p:cNvPr id="8" name="Picture 7" descr="fig_du_fd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88720"/>
            <a:ext cx="3840480" cy="12997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4023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90FF"/>
                </a:solidFill>
              </a:rPr>
              <a:t>Dundee Fixation Duration</a:t>
            </a:r>
          </a:p>
        </p:txBody>
      </p:sp>
      <p:pic>
        <p:nvPicPr>
          <p:cNvPr id="10" name="Picture 9" descr="fig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188720"/>
            <a:ext cx="3657600" cy="15162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4023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Log-DV Overlay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1704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D700"/>
                </a:solidFill>
              </a:rPr>
              <a:t>Right-Skew Issue: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Reaction times naturally have a strict lower bound (0 ms) but an infinite upper tail.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OLS Regression assumes normality. Without a logarithmic transform, outliers pull the trend line.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Log-transformation normalizes the data as shown in the orange distributions.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90FF"/>
                </a:solidFill>
              </a:rPr>
              <a:t>NOTEBOOK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Notebook 2: Classical N-gram Surprisal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Establishing the baseline with Kneser-Ney smoothing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66928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90FF"/>
                </a:solidFill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Training corpus: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NLTK Brown corpus — 57,340 sentences. Generic domain.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Models trained: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E90FF"/>
                </a:solidFill>
              </a:rPr>
              <a:t>• Bigram  (n=2)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E90FF"/>
                </a:solidFill>
              </a:rPr>
              <a:t>• Trigram (n=3)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Implementation: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NLTK's `KneserNeyInterpolated` pipeline.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Computed sequentially across texts. OOV tokens smoothed.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Output generated: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ns_ngram_surprisal.csv (10k rows)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dundee_ngram_surprisal.csv (50k rows)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80160"/>
            <a:ext cx="557784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Baseline Correlation with log-DV: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68880"/>
            <a:ext cx="1828800" cy="36576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51460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468880"/>
            <a:ext cx="1737360" cy="36576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5146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NS r(log RT)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0" y="2468880"/>
            <a:ext cx="1920240" cy="36576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251460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Dundee r(logFDUR)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852928"/>
            <a:ext cx="1828800" cy="365760"/>
          </a:xfrm>
          <a:prstGeom prst="rect">
            <a:avLst/>
          </a:prstGeom>
          <a:solidFill>
            <a:srgbClr val="15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986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Bigram KN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852928"/>
            <a:ext cx="1737360" cy="365760"/>
          </a:xfrm>
          <a:prstGeom prst="rect">
            <a:avLst/>
          </a:prstGeom>
          <a:solidFill>
            <a:srgbClr val="15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986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r = 0.2149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2852928"/>
            <a:ext cx="1920240" cy="365760"/>
          </a:xfrm>
          <a:prstGeom prst="rect">
            <a:avLst/>
          </a:prstGeom>
          <a:solidFill>
            <a:srgbClr val="15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289864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r = 0.1732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236976"/>
            <a:ext cx="1828800" cy="365760"/>
          </a:xfrm>
          <a:prstGeom prst="rect">
            <a:avLst/>
          </a:prstGeom>
          <a:solidFill>
            <a:srgbClr val="0F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2826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Trigram KN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236976"/>
            <a:ext cx="1737360" cy="365760"/>
          </a:xfrm>
          <a:prstGeom prst="rect">
            <a:avLst/>
          </a:prstGeom>
          <a:solidFill>
            <a:srgbClr val="0F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2826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r = 0.1928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60" y="3236976"/>
            <a:ext cx="1920240" cy="365760"/>
          </a:xfrm>
          <a:prstGeom prst="rect">
            <a:avLst/>
          </a:prstGeom>
          <a:solidFill>
            <a:srgbClr val="0F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32826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r = 0.1715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1148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</a:rPr>
              <a:t>Why did Bigram beat Trigram?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056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Sparsity. Trigrams suffer more from data sparsity on a small training corpus (Brown), introducing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NOTEBOOK 3 —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Notebook 3: Transformer Context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EC5"/>
                </a:solidFill>
              </a:rPr>
              <a:t>Engineering around CUDA / Memory crashes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14300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6B6B"/>
                </a:solidFill>
              </a:rPr>
              <a:t>The Problem: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BERT max sequence length is 512 subwords.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GPT-2 max sequence length is 1024 subwords.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Dundee articles are often 2000+ words. Passing the whole text yields a CUDA Device Assert on indexing.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E90FF"/>
                </a:solidFill>
              </a:rPr>
              <a:t>GPT-2 Solution (Autoregressive Context Tracking):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We built a chunker that grabs words greedily until subword tokens hit 512.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Only the first word of the chunk loses left context. This minimizes data loss across the vast sequence.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FFD700"/>
                </a:solidFill>
              </a:rPr>
              <a:t>BERT Solution (PLL Tracking):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Created 80-word windows. In each window, loop through every word, MASK it, do a forward pass, and sum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B0BEC5"/>
                </a:solidFill>
              </a:rPr>
              <a:t>local subword logits. Extends runtime significantly but avoids out-of-bounds truncation.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90FF"/>
                </a:solidFill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Main Results: 4-Model Correlation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BEC5"/>
                </a:solidFill>
              </a:rPr>
              <a:t>Pearson r between model surprisal and human log reading time — all p &lt; 0.001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920240" cy="47548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783080"/>
            <a:ext cx="1792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691640"/>
            <a:ext cx="2103120" cy="47548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0008" y="1783080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2286000" cy="47548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783080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NS r(log RT)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691640"/>
            <a:ext cx="2560320" cy="47548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1783080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Dundee r(logFDUR)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691640"/>
            <a:ext cx="2560320" cy="47548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448" y="1783080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85416"/>
            <a:ext cx="192024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276856"/>
            <a:ext cx="1792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Bigram KN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185416"/>
            <a:ext cx="210312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50008" y="2276856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Classical N-gram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185416"/>
            <a:ext cx="228600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3128" y="2276856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D700"/>
                </a:solidFill>
              </a:rPr>
              <a:t>0.2149 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185416"/>
            <a:ext cx="256032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2276856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0.1732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2185416"/>
            <a:ext cx="256032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9448" y="2276856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C9A7"/>
                </a:solidFill>
              </a:rPr>
              <a:t>Best on NS  (1st)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679192"/>
            <a:ext cx="192024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2770632"/>
            <a:ext cx="1792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Trigram KN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2679192"/>
            <a:ext cx="210312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0008" y="2770632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Classical N-gram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2679192"/>
            <a:ext cx="228600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3128" y="2770632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0.1928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2679192"/>
            <a:ext cx="256032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2770632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0.1715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2679192"/>
            <a:ext cx="256032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9448" y="2770632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172968"/>
            <a:ext cx="192024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" y="3264408"/>
            <a:ext cx="1792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GPT-2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" y="3172968"/>
            <a:ext cx="210312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50008" y="3264408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Transformer (AR)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3172968"/>
            <a:ext cx="228600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53128" y="3264408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0.2094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20" y="3172968"/>
            <a:ext cx="256032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39128" y="3264408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D700"/>
                </a:solidFill>
              </a:rPr>
              <a:t>0.1929 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5440" y="3172968"/>
            <a:ext cx="2560320" cy="47548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99448" y="3264408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C9A7"/>
                </a:solidFill>
              </a:rPr>
              <a:t>Best on DU (1st)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666744"/>
            <a:ext cx="192024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9768" y="3758184"/>
            <a:ext cx="1792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BERT (PLL)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3666744"/>
            <a:ext cx="210312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0008" y="3758184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Transformer (MLM)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3666744"/>
            <a:ext cx="228600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53128" y="3758184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0.1572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3666744"/>
            <a:ext cx="256032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39128" y="3758184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EC5"/>
                </a:solidFill>
              </a:rPr>
              <a:t>0.1554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3666744"/>
            <a:ext cx="2560320" cy="47548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9448" y="3758184"/>
            <a:ext cx="24323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</a:rPr>
              <a:t>Weakest (4th)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38404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⭐ = best in column    AR = autoregressive    MLM = masked language model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572000"/>
            <a:ext cx="73152" cy="8229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</a:rPr>
              <a:t>RQ1 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864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All 4 models show significant positive correlation with reading time.
Surprisal IS a reliable predictor of reading difficulty.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577840"/>
            <a:ext cx="73152" cy="8229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5577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RQ2 ~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587044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MIXED result: GPT-2 outperforms n-grams on Dundee but Bigram KN marginally outperforms GPT-2 on Natural Stories (0.215 vs 0.209).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ANALYSIS: THE ANOMALIES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did BERT fail? Why did Bigram win 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57784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Why did BERT score the worst?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Bidirectional cheating: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BERT PLL calculates P(w | Left Context + Right Context).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Humans read strictly Left-to-Right. The right context is not available during an actual surprisal event in the brain.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Noise introduced by Masking: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Using the [MASK] token alters the sentence dynamics compared to GPT-2's smooth autoregression.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4864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</a:rPr>
              <a:t>Why did Bigram win on Natural Stories?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Local Syntactic Traps: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Natural Stories is filled with deliberate, tricky transitions (e.g. Noun directly adjacent to Verb where an Adjective was expected).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Bigrams are hypersensitive locally: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A Bigram model reacts disastrously to adjacent weird pairs. This harsh local reaction correlates perfectly with the human brain's sudden confusion at that exact boundary.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GPT-2 buffers this by using massive context width to 'smooth out' expectations.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90FF"/>
                </a:solidFill>
              </a:rPr>
              <a:t>RESULTS — VISUAL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Results: Correlation Bar Chart &amp; Distributions</a:t>
            </a:r>
          </a:p>
        </p:txBody>
      </p:sp>
      <p:pic>
        <p:nvPicPr>
          <p:cNvPr id="6" name="Picture 5" descr="fig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2162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9377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C9A7"/>
                </a:solidFill>
              </a:rPr>
              <a:t>Pearson r by model — both corpora</a:t>
            </a:r>
          </a:p>
        </p:txBody>
      </p:sp>
      <p:pic>
        <p:nvPicPr>
          <p:cNvPr id="8" name="Picture 7" descr="fig_surp_distributions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88720"/>
            <a:ext cx="5394960" cy="1878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Surprisal distributions — all 4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486400"/>
            <a:ext cx="11704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Key visual findings: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• Bigram KN produces the highest NS correlation bar (steelblue, left-most pair)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• GPT-2 wins on Dundee (coral bar, 3rd pair) — extends bigram on broader domain text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• BERT (PLL) scores heavily shifted left toward 0 bits — predicting masked words given surrounding context is 'too easy'.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90FF"/>
                </a:solidFill>
              </a:rPr>
              <a:t>RESULTS — SCATTER 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Surprisal vs. Log Reading Time — All Models × Corpora</a:t>
            </a:r>
          </a:p>
        </p:txBody>
      </p:sp>
      <p:pic>
        <p:nvPicPr>
          <p:cNvPr id="6" name="Picture 5" descr="fig_scatter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0344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126480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Each panel: one model × one corpus. Black line = OLS fit.  r value shown in title.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0C9A7"/>
                </a:solidFill>
              </a:rPr>
              <a:t>Positive slopes in all 8 panels visually confirm: higher surprisal → longer reading time (RQ1 ✓)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9A7"/>
                </a:solidFill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Discussion &amp; 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1430000" cy="1234440"/>
          </a:xfrm>
          <a:prstGeom prst="rect">
            <a:avLst/>
          </a:prstGeom>
          <a:solidFill>
            <a:srgbClr val="152A40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73152" cy="12344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350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</a:rPr>
              <a:t>✅ RQ1 — Confirmed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BEC5"/>
                </a:solidFill>
              </a:rPr>
              <a:t>All LM surprisal measures positively correlate with human reading time (r=0.15–0.21). Higher surprisal reliably predicts longer reading times / fixation durations.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1430000" cy="1234440"/>
          </a:xfrm>
          <a:prstGeom prst="rect">
            <a:avLst/>
          </a:prstGeom>
          <a:solidFill>
            <a:srgbClr val="152A4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633472"/>
            <a:ext cx="73152" cy="123444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88336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⚠️ RQ2 — 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BEC5"/>
                </a:solidFill>
              </a:rPr>
              <a:t>GPT-2 outperforms n-grams on Dundee but not on Natural Stories. Classical Bigram models are surprisingly competitive at detecting local structural ambiguity.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86784"/>
            <a:ext cx="11430000" cy="1234440"/>
          </a:xfrm>
          <a:prstGeom prst="rect">
            <a:avLst/>
          </a:prstGeom>
          <a:solidFill>
            <a:srgbClr val="152A40"/>
          </a:solidFill>
          <a:ln w="1524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986784"/>
            <a:ext cx="73152" cy="12344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🔍 BERT Failure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43984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BEC5"/>
                </a:solidFill>
              </a:rPr>
              <a:t>Bidirectional context is not physiologically valid for sequential reading measurement. Masked LM produces flawed surprisal metrics for psycholinguistics.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340096"/>
            <a:ext cx="11430000" cy="123444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340096"/>
            <a:ext cx="73152" cy="12344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</a:rPr>
              <a:t>📌 Replication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797296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BEC5"/>
                </a:solidFill>
              </a:rPr>
              <a:t>Results replicate across both corpora (Self-Paced Reading and Eye-Tracking), proving standard linear association holds independent of tracking mechanism.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FUTURE WORK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What's Next &amp;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685800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🔮  Remaining Work (50% → 100%)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Notebook 4 — Mixed-Effects Regression: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Fit lmer-style models: logRT ~ surprisal + word_len +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word_freq + position + (1|subject) + (1|item)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Compare β-coefficients across models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Notebook 5 — Control Variables: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Partial out word length, frequency (log), POS,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sentence position — isolate pure surprisal effect.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Length and Frequency are huge confounds.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Notebook 6 — Syntactic Analysis (RQ3):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Locate specific garden-path sentences.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B0BEC5"/>
                </a:solidFill>
              </a:rPr>
              <a:t>  Plot word-by-word line chart: Surprisal vs RT.</a:t>
            </a:r>
          </a:p>
          <a:p>
            <a:pPr>
              <a:spcBef>
                <a:spcPts val="400"/>
              </a:spcBef>
            </a:pPr>
            <a:r>
              <a:rPr sz="5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D700"/>
                </a:solidFill>
              </a:rPr>
              <a:t>Non-linear models: Random Forest / XGBoost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80160"/>
            <a:ext cx="4389120" cy="5029200"/>
          </a:xfrm>
          <a:prstGeom prst="rect">
            <a:avLst/>
          </a:prstGeom>
          <a:solidFill>
            <a:srgbClr val="152A40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90FF"/>
                </a:solidFill>
              </a:rPr>
              <a:t>📚  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8288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Smith &amp; Levy (2013).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Predictability effects on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reading time.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Hale (2001).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A probabilistic Earley parser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as a psycholinguistic model.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Levy (2008).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Expectation-based syntactic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comprehension.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Demberg &amp; Keller (2008).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Eye-tracking evidence for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sentence processing.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Salazar et al. (2020).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Masked LM scoring.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Kennedy et al. (2003).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B0BEC5"/>
                </a:solidFill>
              </a:rPr>
              <a:t>  Dundee eye-tracking corpus.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