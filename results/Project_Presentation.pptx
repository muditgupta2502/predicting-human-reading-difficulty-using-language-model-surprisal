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146304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Predicting Human Reading Difficulty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317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C9A7"/>
                </a:solidFill>
              </a:rPr>
              <a:t>using Language Model Surprisal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1089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Computational Psycholinguistics —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520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Mudit Gupta  |  Roll: 2024201058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1.  Background &amp; Motivation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2.  Prerequisites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3.  Research Questions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4.  Datasets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5.  Notebook 1 — Preprocessing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6.  Notebook 2 — N-gram Surprisal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7.  Notebook 3 — Transformer Surprisal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8.  Results &amp; Answers to RQs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9.  Conclusions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A7"/>
                </a:solidFill>
              </a:rPr>
              <a:t>Why do some words take longer to read than others?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Core concept: Surprisal Theory   (Hale, 2001; Levy, 2008)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90FF"/>
                </a:solidFill>
              </a:rPr>
              <a:t>S(wᵢ) = −log₂ P(wᵢ | context)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• A word that is UNEXPECTED given its context has HIGH surprisal.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0BEC5"/>
                </a:solidFill>
              </a:rPr>
              <a:t>• High surprisal ↔ longer reading time / fixation duration.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0BEC5"/>
                </a:solidFill>
              </a:rPr>
              <a:t>• Surprisal is computed from language model probabilities.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0BEC5"/>
                </a:solidFill>
              </a:rPr>
              <a:t>• We compare n-gram LMs vs modern transformer LMs.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88720"/>
            <a:ext cx="3291840" cy="347472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</a:rPr>
              <a:t>Psycholinguistic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6459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Measure: Reading Time (ms)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or Fixation Duration (ms)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Predictor: Model Surprisal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(bits = −log₂ P)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Key claim: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RT ∝ Surprisal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(Smith &amp; Levy, 2013)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Prerequisites —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</a:rPr>
              <a:t>What you need to know before diving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📊  N-gram 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Predict next word using the last N−1 words.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90FF"/>
                </a:solidFill>
              </a:rPr>
              <a:t>Bigram: P(wᵢ | wᵢ₋₁)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90FF"/>
                </a:solidFill>
              </a:rPr>
              <a:t>Trigram: P(wᵢ | wᵢ₋₂, wᵢ₋₁)</a:t>
            </a:r>
          </a:p>
          <a:p>
            <a:pPr>
              <a:spcBef>
                <a:spcPts val="4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Kneser-Ney Smoothing: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Handles unseen n-grams gracefully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Redistributes probability mass from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seen n-grams to novel contexts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State-of-the-art smoothing for n-grams</a:t>
            </a:r>
          </a:p>
          <a:p>
            <a:pPr>
              <a:spcBef>
                <a:spcPts val="4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Training corpus: NLTK Brown Corpus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57,340 sentences of general English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66928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🤖  Transformer Language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GPT-2 (Autoregressive / Causal LM):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Predicts each token from ALL prior tokens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E90FF"/>
                </a:solidFill>
              </a:rPr>
              <a:t>• Surp = −log₂ P(wᵢ | w₁…wᵢ₋₁)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One forward pass per sentence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Handles long-range dependencies natively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6B6B"/>
                </a:solidFill>
              </a:rPr>
              <a:t>• Max context: 1024 tokens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BERT PLL (Masked LM):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Bidirectional: sees left AND right context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E90FF"/>
                </a:solidFill>
              </a:rPr>
              <a:t>• Mask word → read log P from [MASK] logit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6B6B"/>
                </a:solidFill>
              </a:rPr>
              <a:t>• One forward pass per WORD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Pseudo-Log-Likelihood (Salazar et al., 2020)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6B6B"/>
                </a:solidFill>
              </a:rPr>
              <a:t>• Max context: 512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Prerequisites — Subword Tokenization &amp; Reading Time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🔧  Subword Tokenization (BPE)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GPT-2 &amp; BERT use Byte Pair Encoding,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splitting words into subword pieces: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90FF"/>
                </a:solidFill>
              </a:rPr>
              <a:t>"unbelievable" → ["un","bel","iev","able"]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90FF"/>
                </a:solidFill>
              </a:rPr>
              <a:t>"reading" → ["read","ing"]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Word-level surprisal requires aggregating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all subword log-probs: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00C9A7"/>
                </a:solidFill>
              </a:rPr>
              <a:t>S(word) = −Σ log₂ P(subwordⱼ)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Key engineering challenge: aligning model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tokens back to original word tokens in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the reading time datasets.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📖  Reading Time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Self-Paced Reading (SPR):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Participant presses button to reveal each word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RT = time to press button (ms)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Natural Stories corpus uses SPR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E90FF"/>
                </a:solidFill>
              </a:rPr>
              <a:t>• Dependent variable: log(RT)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Eye-Tracking: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Camera tracks fixations on text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First-Pass Fixation Duration (FDUR)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= time eyes first rest on a word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Dundee corpus uses eye-tracking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E90FF"/>
                </a:solidFill>
              </a:rPr>
              <a:t>• Dependent variable: log(FDUR)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6B6B"/>
                </a:solidFill>
              </a:rPr>
              <a:t>Both log-transformed for normality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6B6B"/>
                </a:solidFill>
              </a:rPr>
              <a:t>and z-scored per subject to control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6B6B"/>
                </a:solidFill>
              </a:rPr>
              <a:t>for individual differences.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Research Questions &amp; Hypotheses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146304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90FF"/>
                </a:solidFill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Does language-model surprisal correlate with human reading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3852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Hypothesis: Higher surprisal → longer reading time (RT ∝ Surprisal)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11430000" cy="1463040"/>
          </a:xfrm>
          <a:prstGeom prst="rect">
            <a:avLst/>
          </a:prstGeom>
          <a:solidFill>
            <a:srgbClr val="152A40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A7"/>
                </a:solidFill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Do transformer LMs (GPT-2/BERT) predict reading difficulty better than n-gram LMs?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3872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Hypothesis: Transformers capture long-range context → higher correlation with 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80560"/>
            <a:ext cx="11430000" cy="1463040"/>
          </a:xfrm>
          <a:prstGeom prst="rect">
            <a:avLst/>
          </a:prstGeom>
          <a:solidFill>
            <a:srgbClr val="152A40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6B"/>
                </a:solidFill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720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Do syntactic constructions produce surprisal spikes matching RT increases?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3892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Hypothesis: Garden-path &amp; center-embedded sentences → local surprisal peaks at disambiguation 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Datasets Used in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📗  Natural Stories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89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PRIMARY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389888"/>
            <a:ext cx="173736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3716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PRIMARY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Futrell et al. (2018)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Self-paced reading paradigm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10 natural language stories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180 participants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10,256 unique word tokens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Designed to contain complex syntactic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  structures (garden-path, embeddings)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Cleaning steps: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RT: 100–3000 ms range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Log-transform + z-score per subject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Aggregate to word-level mean log-RT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90FF"/>
                </a:solidFill>
              </a:rPr>
              <a:t>DV: mean log(RT) per word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Mean RT:  ~384 ms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Mean log-RT: 5.74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577840" cy="512064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📘  Dundee Corpus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389888"/>
            <a:ext cx="2194560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371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REPLICATION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Kennedy et al. (2003)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Eye-tracking paradigm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20 newspaper article texts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10 participants (but dense data)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50,650 word-level observations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General domain news text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Cleaning steps: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Pass-1 fixations only (no re-reads)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FDUR: 50–1200 ms range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Log-transform + z-score per subject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Aggregate to word-level mean log-FDUR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90FF"/>
                </a:solidFill>
              </a:rPr>
              <a:t>DV: mean log(FDUR) per word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Mean FDUR: ~202 ms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Mean log-FDUR: 5.24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NOTEBOOK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Notebook 1: Data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</a:rPr>
              <a:t>Cleaning, normalization and EDA for both corpora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73152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</a:rPr>
              <a:t>1. Load 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Parse SPR timing files (NS) / fixation + text metadata files (Dundee)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73152" cy="4754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2. Filter &amp;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NS: RT 100–3000ms  |  Dundee: Pass-1 only, FDUR 50–1200ms, dedup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7315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3. Log-Transform + Z-score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log(RT) and log(FDUR) per word; z-scored per subject for individual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73152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4. Aggregate to Word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Group by [story, zone] or [text_num, WNUM] → mean log-DV + n_subjects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73152" cy="4754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EC5"/>
                </a:solidFill>
              </a:rPr>
              <a:t>5. Save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ns_words.csv, ns_word_agg.csv, dundee_clean.csv, dundee_word_agg.csv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280160"/>
            <a:ext cx="310896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371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Output 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7373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Natural Stories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Word tokens: 10,256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Subjects: 180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Stories: 10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Mean log-RT: 5.74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Dundee Corpus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Word obs: 307,582 raw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After cleaning: 307,582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Aggregated: 50,650 words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Texts: 20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Mean log-FDUR: 5.24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NOTEBOOK 1 — EDA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Notebook 1: EDA Output — Reading Time Distributions</a:t>
            </a:r>
          </a:p>
        </p:txBody>
      </p:sp>
      <p:pic>
        <p:nvPicPr>
          <p:cNvPr id="6" name="Picture 5" descr="fig_ns_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840480" cy="12997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</a:rPr>
              <a:t>Natural Stories RT distribution</a:t>
            </a:r>
          </a:p>
        </p:txBody>
      </p:sp>
      <p:pic>
        <p:nvPicPr>
          <p:cNvPr id="8" name="Picture 7" descr="fig_du_fd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88720"/>
            <a:ext cx="3840480" cy="12997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90FF"/>
                </a:solidFill>
              </a:rPr>
              <a:t>Dundee Fixation Duration distribution</a:t>
            </a:r>
          </a:p>
        </p:txBody>
      </p:sp>
      <p:pic>
        <p:nvPicPr>
          <p:cNvPr id="10" name="Picture 9" descr="fig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188720"/>
            <a:ext cx="3657600" cy="15162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Log-DV overlay: both corpora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0"/>
            <a:ext cx="11704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FFD700"/>
                </a:solidFill>
              </a:rPr>
              <a:t>Key observations: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Both RT and FDUR are right-skewed raw → log-transform creates near-normal distributions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Mean log-RT (NS) = 5.74  vs  mean log-FDUR (Dundee) = 5.24  — SPR slightly slower than eye-tracking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Per-subject variation is significant → z-scoring per subject is critical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NOTEBOOK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Notebook 2: Classical N-gram Surprisal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</a:rPr>
              <a:t>Kneser-Ney bigram &amp; trigram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Training corpus: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NLTK Brown corpus — 57,340 sentences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General American English, mixed domains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Models trained: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90FF"/>
                </a:solidFill>
              </a:rPr>
              <a:t>• Bigram  (n=2): P(wᵢ | wᵢ₋₁)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90FF"/>
                </a:solidFill>
              </a:rPr>
              <a:t>• Trigram (n=3): P(wᵢ | wᵢ₋₂, wᵢ₋₁)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Both use Kneser-Ney interpolated smoothing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Surprisal computation: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For each word in story/text, pass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  running history as context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0C9A7"/>
                </a:solidFill>
              </a:rPr>
              <a:t>• S(wᵢ) = −log₂ P(wᵢ | context)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• Process story-by-story (NS) /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  text-by-text (Dundee)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Output: ns_ngram_surprisal.csv &amp;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dundee_ngram_surprisal.csv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57784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Corpus Coverage: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Natural Stories:  10,256 word tokens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Dundee corpus:   50,650 word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Surprisal Statistics (Natural Stories):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  Bigram  mean: ~8.2 bits, std ~4.1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  Trigram mean: ~8.5 bits, std ~4.4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Correlation with log-RT / log-FDUR: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480560"/>
            <a:ext cx="1828800" cy="3657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526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480560"/>
            <a:ext cx="1737360" cy="3657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5262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NS r(log RT)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4480560"/>
            <a:ext cx="1920240" cy="3657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526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Dundee r(logFDUR)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864608"/>
            <a:ext cx="1828800" cy="36576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9103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Bigram KN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864608"/>
            <a:ext cx="1737360" cy="36576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9103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r = 0.2149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4864608"/>
            <a:ext cx="1920240" cy="36576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49103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r = 0.1732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248656"/>
            <a:ext cx="1828800" cy="365760"/>
          </a:xfrm>
          <a:prstGeom prst="rect">
            <a:avLst/>
          </a:prstGeom>
          <a:solidFill>
            <a:srgbClr val="0F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2943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Trigram KN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248656"/>
            <a:ext cx="1737360" cy="365760"/>
          </a:xfrm>
          <a:prstGeom prst="rect">
            <a:avLst/>
          </a:prstGeom>
          <a:solidFill>
            <a:srgbClr val="0F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52943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r = 0.1928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5248656"/>
            <a:ext cx="1920240" cy="365760"/>
          </a:xfrm>
          <a:prstGeom prst="rect">
            <a:avLst/>
          </a:prstGeom>
          <a:solidFill>
            <a:srgbClr val="0F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52943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r = 0.1715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852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All p-values &lt; 0.001 (highly significant)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NOTEBOOK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Notebook 3: Transformer Surprisal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C5"/>
                </a:solidFill>
              </a:rPr>
              <a:t>GPT-2 (autoregressive) + BERT (masked PLL)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⚡  GPT-2 Surprisal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Model: gpt2 (117M parameters)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One forward pass per story/text chunk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→ logits at every position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→ log-softmax → P(token | context)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Subword aggregation: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BPE pieces summed in log-space →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word-level log-probability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6B6B"/>
                </a:solidFill>
              </a:rPr>
              <a:t>Key fix — chunking (512 tokens max):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GPT-2 has 1024-pos limit; BPE of long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stories exceeds this → CUDA crash.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Non-overlapping 512-token chunks used.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C9A7"/>
                </a:solidFill>
              </a:rPr>
              <a:t>Runtime on T4 GPU: ~3 min (NS+Dundee)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Surprisal stats NS:  mean=5.96 bits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Surprisal stats DU: mean=6.67 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57784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🎭  BERT PLL Surprisal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Model: bert-base-uncased (110M params)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Pseudo-Log-Likelihood method: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For each word → mask ALL its subword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tokens → forward pass → read logit for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true token at [MASK] position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6B6B"/>
                </a:solidFill>
              </a:rPr>
              <a:t>= 1 forward pass per WORD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BERT sees bidirectional context: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both left AND right neighbors used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0BEC5"/>
                </a:solidFill>
              </a:rPr>
              <a:t>(unlike GPT-2 which only sees left)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6B6B"/>
                </a:solidFill>
              </a:rPr>
              <a:t>Key fix — 80-word chunks: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BERT max is 512 subword tokens.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Long texts silently truncated → wrong scores.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80-word chunks ≈ 130 subword tokens.</a:t>
            </a:r>
          </a:p>
          <a:p>
            <a:pPr>
              <a:spcBef>
                <a:spcPts val="4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C9A7"/>
                </a:solidFill>
              </a:rPr>
              <a:t>Runtime on T4 GPU: ~15 min (NS+Dundee)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Surprisal stats NS:  mean=4.87 bits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Surprisal stats DU: mean=6.67 bits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Main Results: 4-Model Correlation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</a:rPr>
              <a:t>Pearson r between model surprisal and human log reading time — all p &lt; 0.001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92024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7830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691640"/>
            <a:ext cx="210312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0008" y="17830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228600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78308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NS r(log RT)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691640"/>
            <a:ext cx="256032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783080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Dundee r(logFDUR)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91640"/>
            <a:ext cx="256032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783080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85416"/>
            <a:ext cx="192024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276856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Bigram KN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185416"/>
            <a:ext cx="210312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0008" y="2276856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Classical N-gram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185416"/>
            <a:ext cx="228600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276856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</a:rPr>
              <a:t>0.2149 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185416"/>
            <a:ext cx="256032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2276856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0.1732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185416"/>
            <a:ext cx="256032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276856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</a:rPr>
              <a:t>Best on 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79192"/>
            <a:ext cx="19202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2770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Trigram KN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2679192"/>
            <a:ext cx="21031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277063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Classical N-gram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679192"/>
            <a:ext cx="2286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27706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0.1928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679192"/>
            <a:ext cx="25603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2770632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0.1715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679192"/>
            <a:ext cx="25603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2770632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172968"/>
            <a:ext cx="192024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3264408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GPT-2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3172968"/>
            <a:ext cx="210312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0008" y="3264408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Transformer (AR)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172968"/>
            <a:ext cx="228600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3128" y="326440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0.2094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172968"/>
            <a:ext cx="256032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9128" y="3264408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</a:rPr>
              <a:t>0.1929 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3172968"/>
            <a:ext cx="2560320" cy="47548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3264408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</a:rPr>
              <a:t>Best on Dundee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666744"/>
            <a:ext cx="19202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" y="3758184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BERT (PLL)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3666744"/>
            <a:ext cx="21031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0008" y="3758184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Transformer (MLM)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3666744"/>
            <a:ext cx="2286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375818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0.1572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3666744"/>
            <a:ext cx="25603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39128" y="3758184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0.1554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3666744"/>
            <a:ext cx="25603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9448" y="3758184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Weakest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⭐ = best in column    AR = autoregressive    MLM = masked language model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519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251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RQ1 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5445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All 4 models show significant positive correlation with reading time.
Surprisal IS a reliable predictor of reading difficulty (all r: 0.15–0.21).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074920"/>
            <a:ext cx="73152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RQ2 ~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3675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MIXED result: GPT-2 outperforms n-grams on Dundee (r=0.193 vs 0.173)
but Bigram KN marginally outperforms GPT-2 on Natural Stories (0.215 vs 0.209).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897880"/>
            <a:ext cx="73152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897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BERT 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1904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BERT PLL is weakest despite bidirectional context — chunking breaks
contextual dependencies; PLL is a noisier surprisal estimate.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RESULTS —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Results: Correlation Bar Chart &amp; Scatter Plots</a:t>
            </a:r>
          </a:p>
        </p:txBody>
      </p:sp>
      <p:pic>
        <p:nvPicPr>
          <p:cNvPr id="6" name="Picture 5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216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937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</a:rPr>
              <a:t>Pearson r by model — both corpora</a:t>
            </a:r>
          </a:p>
        </p:txBody>
      </p:sp>
      <p:pic>
        <p:nvPicPr>
          <p:cNvPr id="8" name="Picture 7" descr="fig_surp_distribution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5394960" cy="1878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937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Surprisal distributions — all 4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8640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Key visual findings: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Bigram KN produces the highest NS correlation bar (steelblue, left-most pair)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GPT-2 wins on Dundee (coral bar, 3rd pair) — extends bigram on broader domain text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• BERT (PLL) scores concentrated near 0 bits — chunking suppresses long-range info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RESULTS — SCATTER 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Surprisal vs. Log Reading Time — All Models × Corpora</a:t>
            </a:r>
          </a:p>
        </p:txBody>
      </p:sp>
      <p:pic>
        <p:nvPicPr>
          <p:cNvPr id="6" name="Picture 5" descr="fig_scatter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0344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12648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Each panel: one model × one corpus. Black line = OLS fit.  r value shown in title.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C9A7"/>
                </a:solidFill>
              </a:rPr>
              <a:t>Positive slopes in all 8 panels confirm: higher surprisal → longer reading time (RQ1 ✓)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Discussion &amp;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1234440"/>
          </a:xfrm>
          <a:prstGeom prst="rect">
            <a:avLst/>
          </a:prstGeom>
          <a:solidFill>
            <a:srgbClr val="152A40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73152" cy="1234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350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✅ RQ1 — 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All LM surprisal measures positively correlate with human reading time (r=0.15–0.21). Higher surprisal reliably predicts longer reading times / fixation durations.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11430000" cy="1234440"/>
          </a:xfrm>
          <a:prstGeom prst="rect">
            <a:avLst/>
          </a:prstGeom>
          <a:solidFill>
            <a:srgbClr val="152A4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33472"/>
            <a:ext cx="73152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88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⚠️ RQ2 — Mixed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GPT-2 outperforms n-grams on Dundee (general news text) but not on Natural Stories (complex syntactic constructions). Simple bigram KN is surprisingly competitive — likely because syntactic surprisal peaks are captured even by bigrams.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86784"/>
            <a:ext cx="11430000" cy="1234440"/>
          </a:xfrm>
          <a:prstGeom prst="rect">
            <a:avLst/>
          </a:prstGeom>
          <a:solidFill>
            <a:srgbClr val="152A40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86784"/>
            <a:ext cx="73152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🔍 BERT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4398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BERT PLL underperforms despite bidirectional context. Chunking (needed to fit 512-token limit) disrupts long-range context. PLL is also noisier than true conditional probability.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40096"/>
            <a:ext cx="11430000" cy="123444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340096"/>
            <a:ext cx="73152" cy="1234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📌 Replication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972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Results replicate across both corpora (SPR and eye-tracking), confirming robustness of the surprisal–RT relationship regardless of measurement paradigm.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FUTURE WORK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What's Next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85800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🔮  Remaining Work (50% → 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Notebook 4 — Mixed-Effects Regression: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Fit lmer-style models: logRT ~ surprisal + word_len +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word_freq + position + (1|subject) + (1|item)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Compare β-coefficients across models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Notebook 5 — Control Variables: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Partial out word length, frequency (log), POS,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sentence position — isolate pure surprisal effect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Notebook 6 — Syntactic Analysis (RQ3):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Locate garden-path / center-embedded sentences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in Natural Stories corpus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Plot surprisal spike at disambiguation point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vs. matched reading time increase</a:t>
            </a:r>
          </a:p>
          <a:p>
            <a:pPr>
              <a:spcBef>
                <a:spcPts val="400"/>
              </a:spcBef>
            </a:pPr>
            <a:r>
              <a:rPr sz="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Non-linear models: Random Forest / XGBoost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B0BEC5"/>
                </a:solidFill>
              </a:rPr>
              <a:t>  on combined feature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80160"/>
            <a:ext cx="4389120" cy="5029200"/>
          </a:xfrm>
          <a:prstGeom prst="rect">
            <a:avLst/>
          </a:prstGeom>
          <a:solidFill>
            <a:srgbClr val="152A40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90FF"/>
                </a:solidFill>
              </a:rPr>
              <a:t>📚 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Smith &amp; Levy (2013).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Predictability effects on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reading time.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Hale (2001).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A probabilistic Earley parser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as a psycholinguistic model.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Levy (2008).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Expectation-based syntactic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comprehension.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Demberg &amp; Keller (2008).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Eye-tracking evidence for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sentence processing.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Salazar et al. (2020).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Masked LM scoring.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Futrell et al. (2018).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B0BEC5"/>
                </a:solidFill>
              </a:rPr>
              <a:t>  Natural Stories Corpus.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